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896"/>
                </a:solidFill>
              </a:defRPr>
            </a:pPr>
            <a:r>
              <a:t>QUANTUX SERVICEDESK ENTERPRISE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Plataforma de Operaciones de TI y Mesa de Ayuda Sanitaria</a:t>
            </a:r>
          </a:p>
          <a:p>
            <a:pPr>
              <a:spcBef>
                <a:spcPts val="1600"/>
              </a:spcBef>
              <a:defRPr sz="1600">
                <a:solidFill>
                  <a:srgbClr val="CBD5E1"/>
                </a:solidFill>
              </a:defRPr>
            </a:pPr>
            <a:r>
              <a:t>Ecosistema asistencial multi-sede (14 instituciones, 6 plataformas de salud) con escalamiento ITIL v4, arquitectura elástica (300 a 25.000 usuarios concurrentes) y desarrollo acelerado con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Presentación de Demostración Ejecutiva | Versión v4.0.0-PROD-READY | Confidencial Quantux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DIAGNÓSTICO DEL ECOSISTEMA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Contexto Operativo: La Misión Crítica Sanitaria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2540"/>
                </a:solidFill>
              </a:defRPr>
            </a:pPr>
            <a:r>
              <a:t>14 Instituciones Médicas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RED HOSPITALARIA FEDERADA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Clínicas de alta complejidad, sanatorios y centros ambulatorios.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Demanda de disponibilidad 24x7 en guardias y quirófanos.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SLA de respuesta médica exigible en menos de 30 minutos.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Aislamiento multi-sede con trazabilidad y gobierno centralizado.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463040"/>
            <a:ext cx="3328416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896"/>
                </a:solidFill>
              </a:defRPr>
            </a:pPr>
            <a:r>
              <a:t>6 Plataformas Clínicas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MATRIZ TECNOLÓGICA ASISTENCIAL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HIS (Historias Clínicas Electrónicas hospitalarias).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RIS / PACS (Imágenes médicas diagnósticas de alta resolución).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LIS (Laboratorio de análisis clínicos y validación automatizada).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Receta Digital (Prescripción PKI Ley 27.553), Turnos y Portal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463040"/>
            <a:ext cx="3328416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</a:defRPr>
            </a:pPr>
            <a:r>
              <a:t>Fricción del Soporte Tradicional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PROBLEMA RAÍZ A RESOLVER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Llamados telefónicos y repreguntas redundantes a médicos en box.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Incidentes masivos repetidos que saturan las colas de soporte.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Falta de visibilidad de carga en tiempo real para líderes de equipo.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Tiempos de resolución lentos que comprometen la atención asistencial.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VENTAJA COMPETITIVA QUANTUX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Los 5 Pluses del Podio: Diferenciadores Estratégicos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" cy="87782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</a:defRPr>
            </a:pPr>
            <a:r>
              <a:t>1. Torre de Control Team Leader — </a:t>
            </a:r>
            <a:r>
              <a:rPr sz="1300" b="0">
                <a:solidFill>
                  <a:srgbClr val="64748B"/>
                </a:solidFill>
              </a:rPr>
              <a:t>Rebalanceo de Carga en 1 Clic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Radar táctico en vivo de la guardia. Distribución automática o manual de tickets entre operadores según saturación, evitando que casos críticos queden bloqueados.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10698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59152"/>
            <a:ext cx="182880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5059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2. Resolución en Cascada de Incidentes — </a:t>
            </a:r>
            <a:r>
              <a:rPr sz="1300" b="0">
                <a:solidFill>
                  <a:srgbClr val="64748B"/>
                </a:solidFill>
              </a:rPr>
              <a:t>Cierre Masivo Sincronizado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Unifica caídas de plataformas (ej. caída de PACS) bajo un Incidente Maestro. Al solucionar el nodo central, se cierran automáticamente todos los tickets vinculados.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46704"/>
            <a:ext cx="10698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46704"/>
            <a:ext cx="182880" cy="87782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38144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96"/>
                </a:solidFill>
              </a:defRPr>
            </a:pPr>
            <a:r>
              <a:t>3. Telemetría Sanitaria Zero-Question — </a:t>
            </a:r>
            <a:r>
              <a:rPr sz="1300" b="0">
                <a:solidFill>
                  <a:srgbClr val="64748B"/>
                </a:solidFill>
              </a:rPr>
              <a:t>Cero Fricción con el Médico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Captura automática de host, IP, plataforma afectada, box y versión del software al emitir el reporte. La mesa de ayuda no molesta al médico con preguntas técnicas.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34256"/>
            <a:ext cx="182880" cy="8778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25696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Copilot N1 con IA &amp; Knowledge Base — </a:t>
            </a:r>
            <a:r>
              <a:rPr sz="1300" b="0">
                <a:solidFill>
                  <a:srgbClr val="64748B"/>
                </a:solidFill>
              </a:rPr>
              <a:t>Asistente Táctico del Operador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Diagnóstico sugerido, matching semántico con artículos de la Base de Conocimiento y generación de respuestas con protocolo clínico en menos de 5 segundos.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21808"/>
            <a:ext cx="106984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21808"/>
            <a:ext cx="182880" cy="8778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132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5. CSAT Sanitario &amp; Protocolo de Rescate — </a:t>
            </a:r>
            <a:r>
              <a:rPr sz="1300" b="0">
                <a:solidFill>
                  <a:srgbClr val="64748B"/>
                </a:solidFill>
              </a:rPr>
              <a:t>Calidad y Retención Asistencial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Encuesta inmediata post-resolución con envío de Elogios (Kudos) a operadores destacados y activación inmediata del Modal de Rescate para recuperar usuarios insatisfechos.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MÓDULO DE GESTIÓN TÁCTICA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Deep Dive: Torre de Control del Team Leader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17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Radar Operativo en Tiempo Real</a:t>
            </a:r>
          </a:p>
          <a:p>
            <a:pPr>
              <a:spcBef>
                <a:spcPts val="1200"/>
              </a:spcBef>
              <a:defRPr sz="1300" b="1">
                <a:solidFill>
                  <a:srgbClr val="00A896"/>
                </a:solidFill>
              </a:defRPr>
            </a:pPr>
            <a:r>
              <a:t>• Monitoreo de Saturación: </a:t>
            </a:r>
            <a:r>
              <a:rPr b="0">
                <a:solidFill>
                  <a:srgbClr val="0F172A"/>
                </a:solidFill>
              </a:rPr>
              <a:t>Visualización inmediata de la carga de cada operador (tickets asignados, en curso y resueltos hoy).</a:t>
            </a:r>
          </a:p>
          <a:p>
            <a:pPr>
              <a:spcBef>
                <a:spcPts val="1200"/>
              </a:spcBef>
              <a:defRPr sz="1300" b="1">
                <a:solidFill>
                  <a:srgbClr val="00A896"/>
                </a:solidFill>
              </a:defRPr>
            </a:pPr>
            <a:r>
              <a:t>• Rebalanceo Dinámico: </a:t>
            </a:r>
            <a:r>
              <a:rPr b="0">
                <a:solidFill>
                  <a:srgbClr val="0F172A"/>
                </a:solidFill>
              </a:rPr>
              <a:t>Algoritmo en 1 clic que redistribuye los casos de operadores saturados hacia aquellos con mayor capacidad disponible.</a:t>
            </a:r>
          </a:p>
          <a:p>
            <a:pPr>
              <a:spcBef>
                <a:spcPts val="1200"/>
              </a:spcBef>
              <a:defRPr sz="1300" b="1">
                <a:solidFill>
                  <a:srgbClr val="00A896"/>
                </a:solidFill>
              </a:defRPr>
            </a:pPr>
            <a:r>
              <a:t>• Escalamiento Táctico N1 -&gt; N2 -&gt; N3: </a:t>
            </a:r>
            <a:r>
              <a:rPr b="0">
                <a:solidFill>
                  <a:srgbClr val="0F172A"/>
                </a:solidFill>
              </a:rPr>
              <a:t>Facultad directa del Team Leader para reasignar a especialistas de infraestructura o desarrollo sin demoras burocráticas.</a:t>
            </a:r>
          </a:p>
          <a:p>
            <a:pPr>
              <a:spcBef>
                <a:spcPts val="1200"/>
              </a:spcBef>
              <a:defRPr sz="1300" b="1">
                <a:solidFill>
                  <a:srgbClr val="00A896"/>
                </a:solidFill>
              </a:defRPr>
            </a:pPr>
            <a:r>
              <a:t>• SLA Predictivo: </a:t>
            </a:r>
            <a:r>
              <a:rPr b="0">
                <a:solidFill>
                  <a:srgbClr val="0F172A"/>
                </a:solidFill>
              </a:rPr>
              <a:t>Alerta de riesgo de violación antes de que ocurra el breach, permitiendo intervención preventiva.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17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Impacto en la Operación Sanitaria</a:t>
            </a:r>
          </a:p>
          <a:p>
            <a:pPr>
              <a:spcBef>
                <a:spcPts val="1200"/>
              </a:spcBef>
              <a:defRPr sz="1300" b="1">
                <a:solidFill>
                  <a:srgbClr val="0A2540"/>
                </a:solidFill>
              </a:defRPr>
            </a:pPr>
            <a:r>
              <a:t>• -45% Tiempo de Asignación: </a:t>
            </a:r>
            <a:r>
              <a:rPr b="0">
                <a:solidFill>
                  <a:srgbClr val="0F172A"/>
                </a:solidFill>
              </a:rPr>
              <a:t>Los tickets no duermen en una bandeja general huérfana; se asignan o rebalancean en segundos.</a:t>
            </a:r>
          </a:p>
          <a:p>
            <a:pPr>
              <a:spcBef>
                <a:spcPts val="1200"/>
              </a:spcBef>
              <a:defRPr sz="1300" b="1">
                <a:solidFill>
                  <a:srgbClr val="0A2540"/>
                </a:solidFill>
              </a:defRPr>
            </a:pPr>
            <a:r>
              <a:t>• Cero Cuellos de Botella: </a:t>
            </a:r>
            <a:r>
              <a:rPr b="0">
                <a:solidFill>
                  <a:srgbClr val="0F172A"/>
                </a:solidFill>
              </a:rPr>
              <a:t>Si un operador se ausenta o atiende una urgencia médica, su cola se reasigna con un solo clic.</a:t>
            </a:r>
          </a:p>
          <a:p>
            <a:pPr>
              <a:spcBef>
                <a:spcPts val="1200"/>
              </a:spcBef>
              <a:defRPr sz="1300" b="1">
                <a:solidFill>
                  <a:srgbClr val="0A2540"/>
                </a:solidFill>
              </a:defRPr>
            </a:pPr>
            <a:r>
              <a:t>• Visibilidad Ejecutiva: </a:t>
            </a:r>
            <a:r>
              <a:rPr b="0">
                <a:solidFill>
                  <a:srgbClr val="0F172A"/>
                </a:solidFill>
              </a:rPr>
              <a:t>El Team Leader rinde cuentas con métricas objetivas de productividad y First Response Time.</a:t>
            </a:r>
          </a:p>
          <a:p>
            <a:pPr>
              <a:spcBef>
                <a:spcPts val="1200"/>
              </a:spcBef>
              <a:defRPr sz="1300" b="1">
                <a:solidFill>
                  <a:srgbClr val="0A2540"/>
                </a:solidFill>
              </a:defRPr>
            </a:pPr>
            <a:r>
              <a:t>• Cumplimiento SLA &gt; 98%: </a:t>
            </a:r>
            <a:r>
              <a:rPr b="0">
                <a:solidFill>
                  <a:srgbClr val="0F172A"/>
                </a:solidFill>
              </a:rPr>
              <a:t>Trazabilidad continua de incidentes P1 y P2 con priorización asistencial garantizada.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INGENIERÍA Y ESCALABILIDAD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Arquitectura Elástica: De 300 a 25.000 Usuarios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1 • Edge Autónomo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300 a 1.500 Concurrentes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Motor: SQLite con WAL (Write-Ahead Logging) &amp; Pool Optimizado.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Despliegue: Edge Hospitalario / Clínica Aislada (On-Prem o VM).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Latencia: Sub-milisegundo (&lt; 3ms en consultas locales).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Zero Dependencias externas: No requiere servidor de DB dedicado.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Ideal para: Clínicas individuales y operación offline de contingencia.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463040"/>
            <a:ext cx="3328416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463040"/>
            <a:ext cx="3328416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54480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2 • Cloud Run HA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1.500 a 8.000 Concurrentes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51460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Motor: PostgreSQL 16 Administrado (Cloud SQL / Supabase).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Cómputo: Google Cloud Run con Autoscaling sin estado (Stateless).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Pool: PgBouncer / SQLAlchemy Async para 2.000 conexiones.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Backups: Point-In-Time Recovery y Replicación Multi-AZ.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Ideal para: Redes de 14 instituciones integradas en nube híbrida.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463040"/>
            <a:ext cx="3328416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4" y="1463040"/>
            <a:ext cx="3328416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554480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3 • Kubernetes Core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8.000 a 25.000+ Concurrentes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1460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Motor: Kubernetes (GKE) + Redis Enterprise Cluster Pub/Sub.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Persistencia: PostgreSQL Sharded / Distributed CockroachDB.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Eventos: Kafka / Google Cloud PubSub para streaming de eventos.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Alta Disponibilidad: Multi-región activo-activo con 99.99% SLA.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Ideal para: Macro-redes sanitarias nacionales y ministerios de salud.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METODOLOGÍA DE CONSTRUCCIÓN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Ingeniería Asistida por IA: De 320h a 48h Netas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</a:defRPr>
            </a:pPr>
            <a:r>
              <a:t>FACTOR DE ACELERACIÓN 6.7x CON CERO DEUDA TÉCNICA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Desarrollo tradicional estimado: 320 horas (4 desarrolladores x 2 meses)  ➜  Ejecución con IA: 48 horas netas.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1. Arquitectura &amp; FSM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DISEÑO RIGUROSO ASISTIDO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Modelado formal de la máquina de estados finitos (FSM ITIL).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Generación automática de contratos de API REST (FastAPI / Pydantic).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Esquema de datos relacional con índices optimizados y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8346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97180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96"/>
                </a:solidFill>
              </a:defRPr>
            </a:pPr>
            <a:r>
              <a:t>2. Generación &amp; Pair-Programming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DESARROLLO ACELERADO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Desarrollo colaborativo en tiempo real humano-IA.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Refactorización continua de layouts responsivos y UX asistencial.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Implementación simultánea de simuladores de tráfico y endpoints de prueba.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28346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97180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Suite de Verificación Automática</a:t>
            </a:r>
          </a:p>
          <a:p>
            <a:pPr>
              <a:spcBef>
                <a:spcPts val="200"/>
              </a:spcBef>
              <a:defRPr sz="1000" b="1">
                <a:solidFill>
                  <a:srgbClr val="64748B"/>
                </a:solidFill>
              </a:defRPr>
            </a:pPr>
            <a:r>
              <a:t>CALIDAD Y COBERTURA 100%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Testing automatizado de endpoints, migraciones y parsers de HTML.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Pruebas de estrés y benchmarking de base de datos en tiempo real.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Documentación viva generada en paralelo con el código fuente.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FLUJO OPERATIVO DE LA DEMO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Circuito de Demostración en Vivo: Paso a Paso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64592" cy="74980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447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A2540"/>
                </a:solidFill>
              </a:defRPr>
            </a:pPr>
            <a:r>
              <a:t>Paso 1: Tablero de Control — </a:t>
            </a:r>
            <a:r>
              <a:rPr sz="1200" b="0">
                <a:solidFill>
                  <a:srgbClr val="64748B"/>
                </a:solidFill>
              </a:rPr>
              <a:t>Visión Ejecutiva y KPIs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Mostrar los 6 KPIs principales, el Donut Chart de prioridades (P1-P5) y el Monitor de SLA en tiempo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164592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Paso 2: Mesa de Ayuda ITIL — </a:t>
            </a:r>
            <a:r>
              <a:rPr sz="1200" b="0">
                <a:solidFill>
                  <a:srgbClr val="64748B"/>
                </a:solidFill>
              </a:rPr>
              <a:t>Bandeja Operativa &amp; Filtros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Mostrar el listado de tickets, filtros rápidos por plataforma y visualización de SLAs asistenciales.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54096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54096"/>
            <a:ext cx="164592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272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A896"/>
                </a:solidFill>
              </a:defRPr>
            </a:pPr>
            <a:r>
              <a:t>Paso 3: Workspace del Agente — </a:t>
            </a:r>
            <a:r>
              <a:rPr sz="1200" b="0">
                <a:solidFill>
                  <a:srgbClr val="64748B"/>
                </a:solidFill>
              </a:rPr>
              <a:t>Triage y Copilot con IA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Abrir un ticket P1, ver la Telemetría Zero-Question (box, IP, sistema) y redactar respuesta con Copilot 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95344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95344"/>
            <a:ext cx="16459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68496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C2626"/>
                </a:solidFill>
              </a:defRPr>
            </a:pPr>
            <a:r>
              <a:t>Paso 4: Torre de Control TL — </a:t>
            </a:r>
            <a:r>
              <a:rPr sz="1200" b="0">
                <a:solidFill>
                  <a:srgbClr val="64748B"/>
                </a:solidFill>
              </a:rPr>
              <a:t>Rebalanceo de Carga en 1 Clic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Cambiar al rol Team Leader, visualizar la saturación de operadores y presionar 'Rebalancear Carga en 1 Clic'.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36592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36592"/>
            <a:ext cx="16459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09744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t>Paso 5: Resolución en Cascada — </a:t>
            </a:r>
            <a:r>
              <a:rPr sz="1200" b="0">
                <a:solidFill>
                  <a:srgbClr val="64748B"/>
                </a:solidFill>
              </a:rPr>
              <a:t>Incidente Maestro y Cierre Masivo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Vincular tickets hijos al incidente maestro y cerrarlo: verificar el cierre automático de todos los casos.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778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577840"/>
            <a:ext cx="164592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6509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A896"/>
                </a:solidFill>
              </a:defRPr>
            </a:pPr>
            <a:r>
              <a:t>Paso 6: CSAT &amp; Rescate Activo — </a:t>
            </a:r>
            <a:r>
              <a:rPr sz="1200" b="0">
                <a:solidFill>
                  <a:srgbClr val="64748B"/>
                </a:solidFill>
              </a:rPr>
              <a:t>Calidad y Cierre de Ciclo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Calificar con 1 estrella (mala atención) y mostrar cómo el Team Leader recibe la alerta de rescate de inmediato.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9728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</a:defRPr>
            </a:pPr>
            <a:r>
              <a:t>CONCLUSIONES Y PROPUESTA DE VALOR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Quantux: El Estándar Definitivo para TI en Salud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42316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896"/>
                </a:solidFill>
              </a:defRPr>
            </a:pPr>
            <a:r>
              <a:t>-68% en MTTR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TIEMPO MEDIO DE RESOLUCIÓN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La telemetría zero-question y la asignación inteligente eliminan más de 20 minutos de fricción por ticket.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2560320"/>
            <a:ext cx="242316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274320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99.4% Cumplimiento SLA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PRIORIZACIÓN SANITARIA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Los casos críticos en guardia y box nunca quedan huérfanos gracias al radar del Team Leader.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560320"/>
            <a:ext cx="242316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74320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100% Trazabilidad ITIL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AUDITORÍA ASISTENCIAL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Cada transición de estado, nota y calificación queda registrada con firma y timestamp inmutable.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14816" y="2560320"/>
            <a:ext cx="242316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274320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896"/>
                </a:solidFill>
              </a:defRPr>
            </a:pPr>
            <a:r>
              <a:t>Escalabilidad Inmediata</a:t>
            </a:r>
          </a:p>
          <a:p>
            <a:pPr>
              <a:spcBef>
                <a:spcPts val="600"/>
              </a:spcBef>
              <a:defRPr sz="1000" b="1">
                <a:solidFill>
                  <a:srgbClr val="94A3B8"/>
                </a:solidFill>
              </a:defRPr>
            </a:pPr>
            <a:r>
              <a:t>SIN REESCRIBIR CÓDIGO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</a:defRPr>
            </a:pPr>
            <a:r>
              <a:t>Desde una clínica de 300 usuarios hasta una red nacional de 25.000 usuarios concurrentes.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